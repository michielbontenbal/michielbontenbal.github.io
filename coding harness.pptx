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616" r:id="rId2"/>
    <p:sldId id="657" r:id="rId3"/>
    <p:sldId id="671" r:id="rId4"/>
    <p:sldId id="664" r:id="rId5"/>
    <p:sldId id="661" r:id="rId6"/>
    <p:sldId id="663" r:id="rId7"/>
    <p:sldId id="632" r:id="rId8"/>
    <p:sldId id="608" r:id="rId9"/>
    <p:sldId id="618" r:id="rId10"/>
    <p:sldId id="666" r:id="rId11"/>
    <p:sldId id="667" r:id="rId12"/>
    <p:sldId id="660" r:id="rId13"/>
    <p:sldId id="668" r:id="rId14"/>
    <p:sldId id="665" r:id="rId15"/>
    <p:sldId id="670" r:id="rId16"/>
    <p:sldId id="6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7B30C-0E11-BB4A-B64B-1C827C0B67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FB9BF-EC22-2B45-B03A-A9ED73D04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3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FAD1-4A4B-BAD0-85F3-658B65EF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6D02F-A244-926E-658D-B7B83B020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CDA6F-155F-6E24-81CB-38102DA2D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D61DA-2B14-9485-7CA7-8634DC73BD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F799-02E7-6830-D5DB-752FDCD5F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61D9B-38A6-9607-5F8C-24B2B02BF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1D666-4EDE-71D3-809E-30960A87D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D8012-74BE-FB37-E9C8-65257E6D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8A876-31AB-2F7F-592D-4B7C3407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7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2362-0665-8DE0-4CDB-8B22CFE5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A72F-668B-795F-5A2A-9222A134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40904-164C-AA76-5AAA-2A022F1B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38D2A-CC06-E965-7C4E-EFB955A9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672A-6A1F-D636-CA0B-D9EF17D7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1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D51F-507E-29CA-9E05-35E17E27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0AB44-0ABD-FCCD-24A3-DF321CF7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17FD5-7390-0322-B1E9-CA1E787E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C72E-F5D5-5ABB-CD47-39094D43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6B485-DF99-D301-920E-AB186FD0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8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5E54-EB36-A321-7F76-CD9197A9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84E8-D081-D4CC-1C7D-149A2F1BA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21159-D353-EE8F-4354-557BDE2F8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1E427-5661-2D7D-6AB5-105BCD8F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CD889-0A2F-C600-9D02-4BE427FD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B86C6-E6E9-40BF-9B1A-281C59CB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1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5A77-5223-C70F-42AB-E183BDFA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7E966-24D8-D424-987E-C579E4D1C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AC0BF-C90F-4374-DB47-1A3684DA7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CE7F1-A789-B5FC-0262-20DE35CDA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CC83A-1608-08F6-04B0-C664598DC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BBDD3-0802-609C-F72E-E8D6E706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9CB45-1AA0-DF65-446A-BD85A717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823FA-BCF9-2E2B-DE0B-7E0EC392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2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050D-2DFA-498E-6D93-DB6A6D39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7F5E7-BD3C-9C72-E9CE-2072CD21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0FE90-8C1C-BDEC-8B3B-AACD60B2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AF915-CF68-D4C1-304C-40ACE972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83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00E2B-2796-388C-1F7B-D3FED20F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AD1324-7DD4-7EE9-AEE3-00790ADB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FB676-C848-48BC-D0E8-03EB8EEC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3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154D-25E2-7FB0-0EB2-3448D9DD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B559-C7CE-6877-D628-658D74BB7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B01D8-BC43-F80A-D425-03217C565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B6E53-F4FE-E593-3032-90F6B499F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19F5C-DBCA-6211-75F9-9D8FBFCC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B8872-BB93-F28D-2783-B7F8DB61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6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6F54-D4F4-705E-6273-CA65E7FE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A6353D-3749-F204-BE72-DAEE9FABB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51A6A-E3B4-77C7-3131-F4083117D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7D8AC-8DDE-67A7-EDC8-AE029751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F89BA-FE3A-FA31-41AC-9964CDEB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1A06A-35A0-C7EE-F75D-6800235A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5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3B3B-DE7A-50FB-17EB-2A0D5813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7E31A-8DA3-04B9-28DC-EE6AD4D89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0FBD-11A6-5AE8-DA52-2363DD4B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F1AA5-57CC-9618-9EB0-B997009D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37C75-32EB-7AA9-9217-0027EC87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EA922-CD69-CDC8-F41A-BEEB5AAAB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D2F5B-49BE-D25E-47CE-3C5910A0B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7FA66-CB32-B461-F328-0E33C030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E6753-04F2-0C64-C6D8-CBF88A99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1587B-DC4D-D18E-5B85-0CA07321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88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8597A-641C-C8D4-C3D3-D0656CCE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FE666-A5AF-C02B-9CDA-53C808999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7A1E-F184-E2DF-C135-AFBD5BE10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2FAC0-D0A5-8B4E-97E0-A3646296268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39721-B257-7C3F-9D72-D2907EFB9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10D09-2FEF-D5C2-D7A9-5DEB2D6DE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ECA2A-400E-CF4C-A597-5C8522F68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fficialskills.sh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eaviate.io/blog/context-engineer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3B4F-A8ED-859F-25C9-E4B919D8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711E0F-17DD-6122-A270-849B54700B7E}"/>
              </a:ext>
            </a:extLst>
          </p:cNvPr>
          <p:cNvSpPr txBox="1"/>
          <p:nvPr/>
        </p:nvSpPr>
        <p:spPr>
          <a:xfrm>
            <a:off x="2372643" y="2767280"/>
            <a:ext cx="7145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4000" dirty="0">
                <a:solidFill>
                  <a:srgbClr val="002060"/>
                </a:solidFill>
              </a:rPr>
              <a:t>2. </a:t>
            </a:r>
            <a:r>
              <a:rPr lang="nl-NL" sz="4000" dirty="0" err="1">
                <a:solidFill>
                  <a:srgbClr val="002060"/>
                </a:solidFill>
              </a:rPr>
              <a:t>Coding</a:t>
            </a:r>
            <a:r>
              <a:rPr lang="nl-NL" sz="4000" dirty="0">
                <a:solidFill>
                  <a:srgbClr val="002060"/>
                </a:solidFill>
              </a:rPr>
              <a:t> </a:t>
            </a:r>
            <a:r>
              <a:rPr lang="nl-NL" sz="4000" dirty="0" err="1">
                <a:solidFill>
                  <a:srgbClr val="002060"/>
                </a:solidFill>
              </a:rPr>
              <a:t>agents</a:t>
            </a:r>
            <a:endParaRPr lang="en-NL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94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18054-49A1-F61F-9965-AC66D2F5B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983" y="1567835"/>
            <a:ext cx="2171700" cy="215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FC0276-F9FF-B296-1953-2FD42E921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67" y="4508500"/>
            <a:ext cx="3704918" cy="1367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32FB2-81F0-1283-917E-62EE7FC63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89" y="1719673"/>
            <a:ext cx="1700837" cy="1855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BA338F-D7C9-AAC1-F0CB-FFDDBD472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186" y="4410049"/>
            <a:ext cx="5621594" cy="1563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C8FED7-037B-2FF1-B114-567F15D22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485" y="1567835"/>
            <a:ext cx="2171700" cy="19800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561A0D-2C01-947D-6E15-5E36F8F1CB25}"/>
              </a:ext>
            </a:extLst>
          </p:cNvPr>
          <p:cNvSpPr txBox="1"/>
          <p:nvPr/>
        </p:nvSpPr>
        <p:spPr>
          <a:xfrm>
            <a:off x="1166189" y="933841"/>
            <a:ext cx="8583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</a:rPr>
              <a:t>Some coding agents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348B5-2C18-C5C9-6FBE-4AC205730F52}"/>
              </a:ext>
            </a:extLst>
          </p:cNvPr>
          <p:cNvSpPr txBox="1"/>
          <p:nvPr/>
        </p:nvSpPr>
        <p:spPr>
          <a:xfrm>
            <a:off x="9024257" y="3591388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Hermes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FD09A-1290-CC3E-B466-917297A838E5}"/>
              </a:ext>
            </a:extLst>
          </p:cNvPr>
          <p:cNvSpPr txBox="1"/>
          <p:nvPr/>
        </p:nvSpPr>
        <p:spPr>
          <a:xfrm>
            <a:off x="1190317" y="3591388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 code</a:t>
            </a:r>
          </a:p>
        </p:txBody>
      </p:sp>
    </p:spTree>
    <p:extLst>
      <p:ext uri="{BB962C8B-B14F-4D97-AF65-F5344CB8AC3E}">
        <p14:creationId xmlns:p14="http://schemas.microsoft.com/office/powerpoint/2010/main" val="241380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5EEB-2472-C10D-E1E1-8A45778A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F7BF79-EEF2-E709-1F4F-C0FB5D54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983" y="1567835"/>
            <a:ext cx="2171700" cy="215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48BE7B-9614-5B33-FA0A-FCF9CE55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67" y="4508500"/>
            <a:ext cx="3704918" cy="1367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ABB2B6-3E58-42A3-CFCA-6B2E98B69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89" y="1719673"/>
            <a:ext cx="1700837" cy="1855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BE528-52BE-D51E-927E-73EE15795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186" y="4410049"/>
            <a:ext cx="5621594" cy="1563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F538CE-6335-AB29-149F-380CC8EDC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485" y="1677494"/>
            <a:ext cx="2051429" cy="1870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A5E38-52F6-2931-174A-5EFD8C955433}"/>
              </a:ext>
            </a:extLst>
          </p:cNvPr>
          <p:cNvSpPr txBox="1"/>
          <p:nvPr/>
        </p:nvSpPr>
        <p:spPr>
          <a:xfrm>
            <a:off x="1166189" y="933841"/>
            <a:ext cx="8583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</a:rPr>
              <a:t>Some coding agents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57E65-86CF-6EB1-0642-6DEF354EE9E9}"/>
              </a:ext>
            </a:extLst>
          </p:cNvPr>
          <p:cNvSpPr txBox="1"/>
          <p:nvPr/>
        </p:nvSpPr>
        <p:spPr>
          <a:xfrm>
            <a:off x="9024257" y="3591388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Hermes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0887C-B97E-422C-747B-B65BD819F533}"/>
              </a:ext>
            </a:extLst>
          </p:cNvPr>
          <p:cNvSpPr txBox="1"/>
          <p:nvPr/>
        </p:nvSpPr>
        <p:spPr>
          <a:xfrm>
            <a:off x="1190317" y="3591388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E16DA-43ED-F7BF-88D7-261A32275AA4}"/>
              </a:ext>
            </a:extLst>
          </p:cNvPr>
          <p:cNvSpPr txBox="1"/>
          <p:nvPr/>
        </p:nvSpPr>
        <p:spPr>
          <a:xfrm>
            <a:off x="5782563" y="83225"/>
            <a:ext cx="3241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</a:rPr>
              <a:t>€ € 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DCBB0-4703-9181-DCE9-4ADB58984D75}"/>
              </a:ext>
            </a:extLst>
          </p:cNvPr>
          <p:cNvSpPr txBox="1"/>
          <p:nvPr/>
        </p:nvSpPr>
        <p:spPr>
          <a:xfrm>
            <a:off x="6508056" y="5930011"/>
            <a:ext cx="32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Free educators </a:t>
            </a:r>
            <a:r>
              <a:rPr lang="en-US" sz="2400" dirty="0" err="1">
                <a:solidFill>
                  <a:srgbClr val="FF0000"/>
                </a:solidFill>
              </a:rPr>
              <a:t>licence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B341-39B8-A347-1E6C-D3225B10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34830BD9-49B7-1D3F-7A54-B2365128B9C3}"/>
              </a:ext>
            </a:extLst>
          </p:cNvPr>
          <p:cNvSpPr/>
          <p:nvPr/>
        </p:nvSpPr>
        <p:spPr>
          <a:xfrm>
            <a:off x="1749287" y="2125130"/>
            <a:ext cx="7636613" cy="3664891"/>
          </a:xfrm>
          <a:prstGeom prst="ellips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636613"/>
                      <a:gd name="csY0" fmla="*/ 1832446 h 3664891"/>
                      <a:gd name="csX1" fmla="*/ 3818307 w 7636613"/>
                      <a:gd name="csY1" fmla="*/ 0 h 3664891"/>
                      <a:gd name="csX2" fmla="*/ 7636614 w 7636613"/>
                      <a:gd name="csY2" fmla="*/ 1832446 h 3664891"/>
                      <a:gd name="csX3" fmla="*/ 3818307 w 7636613"/>
                      <a:gd name="csY3" fmla="*/ 3664892 h 3664891"/>
                      <a:gd name="csX4" fmla="*/ 0 w 7636613"/>
                      <a:gd name="csY4" fmla="*/ 1832446 h 36648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36613" h="3664891" extrusionOk="0">
                        <a:moveTo>
                          <a:pt x="0" y="1832446"/>
                        </a:moveTo>
                        <a:cubicBezTo>
                          <a:pt x="-442276" y="547608"/>
                          <a:pt x="1473652" y="88523"/>
                          <a:pt x="3818307" y="0"/>
                        </a:cubicBezTo>
                        <a:cubicBezTo>
                          <a:pt x="5951359" y="5107"/>
                          <a:pt x="7560535" y="822833"/>
                          <a:pt x="7636614" y="1832446"/>
                        </a:cubicBezTo>
                        <a:cubicBezTo>
                          <a:pt x="7259948" y="3212313"/>
                          <a:pt x="5896323" y="3835007"/>
                          <a:pt x="3818307" y="3664892"/>
                        </a:cubicBezTo>
                        <a:cubicBezTo>
                          <a:pt x="1536774" y="3570382"/>
                          <a:pt x="70302" y="2878069"/>
                          <a:pt x="0" y="183244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C5577-438A-AAEC-C9CA-BC276CE4C132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agent = model + “</a:t>
            </a:r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</a:t>
            </a:r>
            <a:r>
              <a:rPr lang="nl-NL" sz="3200" b="1" dirty="0" err="1">
                <a:solidFill>
                  <a:srgbClr val="002060"/>
                </a:solidFill>
              </a:rPr>
              <a:t>harness</a:t>
            </a:r>
            <a:r>
              <a:rPr lang="nl-NL" sz="3200" b="1" dirty="0">
                <a:solidFill>
                  <a:srgbClr val="002060"/>
                </a:solidFill>
              </a:rPr>
              <a:t>”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C48127D-929F-50E9-DD69-9D201C4F1A56}"/>
              </a:ext>
            </a:extLst>
          </p:cNvPr>
          <p:cNvSpPr/>
          <p:nvPr/>
        </p:nvSpPr>
        <p:spPr>
          <a:xfrm>
            <a:off x="4502378" y="3618245"/>
            <a:ext cx="2433486" cy="678662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>
                <a:solidFill>
                  <a:schemeClr val="bg1"/>
                </a:solidFill>
              </a:rPr>
              <a:t>AI model</a:t>
            </a:r>
            <a:endParaRPr lang="en-NL" b="1" dirty="0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CBB35A-8B46-DC7F-0B78-59332B33F266}"/>
              </a:ext>
            </a:extLst>
          </p:cNvPr>
          <p:cNvSpPr/>
          <p:nvPr/>
        </p:nvSpPr>
        <p:spPr>
          <a:xfrm>
            <a:off x="4870982" y="185369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Skills </a:t>
            </a:r>
            <a:r>
              <a:rPr lang="nl-NL">
                <a:solidFill>
                  <a:srgbClr val="002060"/>
                </a:solidFill>
              </a:rPr>
              <a:t>&amp; MCP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1B025C-BA1B-5F87-D26D-ADC655ED54B9}"/>
              </a:ext>
            </a:extLst>
          </p:cNvPr>
          <p:cNvSpPr/>
          <p:nvPr/>
        </p:nvSpPr>
        <p:spPr>
          <a:xfrm>
            <a:off x="1109822" y="3618244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Memory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04E1C3-744A-BC6B-AA3A-B19103CF3144}"/>
              </a:ext>
            </a:extLst>
          </p:cNvPr>
          <p:cNvSpPr/>
          <p:nvPr/>
        </p:nvSpPr>
        <p:spPr>
          <a:xfrm>
            <a:off x="8358760" y="3618245"/>
            <a:ext cx="2243925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Prompt &amp; context engineering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1A49ED-215C-5CE1-158A-6C3D1477858F}"/>
              </a:ext>
            </a:extLst>
          </p:cNvPr>
          <p:cNvSpPr/>
          <p:nvPr/>
        </p:nvSpPr>
        <p:spPr>
          <a:xfrm>
            <a:off x="4959203" y="545343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Sub-</a:t>
            </a:r>
            <a:r>
              <a:rPr lang="nl-NL" dirty="0" err="1">
                <a:solidFill>
                  <a:srgbClr val="002060"/>
                </a:solidFill>
              </a:rPr>
              <a:t>agents</a:t>
            </a:r>
            <a:endParaRPr lang="en-N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73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54C49E-EF64-E2B9-8E1D-66852A8F83CE}"/>
              </a:ext>
            </a:extLst>
          </p:cNvPr>
          <p:cNvSpPr/>
          <p:nvPr/>
        </p:nvSpPr>
        <p:spPr>
          <a:xfrm>
            <a:off x="1741714" y="3646714"/>
            <a:ext cx="2536372" cy="816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Coding agent = thin client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6FAF4-D1F0-8A3B-3E7C-4A1F05E27330}"/>
              </a:ext>
            </a:extLst>
          </p:cNvPr>
          <p:cNvSpPr txBox="1"/>
          <p:nvPr/>
        </p:nvSpPr>
        <p:spPr>
          <a:xfrm>
            <a:off x="1166189" y="933841"/>
            <a:ext cx="8583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</a:rPr>
              <a:t>Coding harness: select AI model 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191DE-CC57-950B-4556-8A39E635C8D9}"/>
              </a:ext>
            </a:extLst>
          </p:cNvPr>
          <p:cNvSpPr/>
          <p:nvPr/>
        </p:nvSpPr>
        <p:spPr>
          <a:xfrm>
            <a:off x="4898571" y="3913413"/>
            <a:ext cx="1273629" cy="283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E54276-B4CC-FA1D-BA6A-5C819591C2DE}"/>
              </a:ext>
            </a:extLst>
          </p:cNvPr>
          <p:cNvSpPr/>
          <p:nvPr/>
        </p:nvSpPr>
        <p:spPr>
          <a:xfrm>
            <a:off x="7151914" y="3679371"/>
            <a:ext cx="2917372" cy="78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key (e.g. Gemini)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9CDA6-A319-2B12-E51B-58D653F44178}"/>
              </a:ext>
            </a:extLst>
          </p:cNvPr>
          <p:cNvSpPr/>
          <p:nvPr/>
        </p:nvSpPr>
        <p:spPr>
          <a:xfrm>
            <a:off x="7151914" y="4942114"/>
            <a:ext cx="2917372" cy="78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Inference Provider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2B970-1F70-27F9-50E4-B7552D2BD148}"/>
              </a:ext>
            </a:extLst>
          </p:cNvPr>
          <p:cNvSpPr/>
          <p:nvPr/>
        </p:nvSpPr>
        <p:spPr>
          <a:xfrm>
            <a:off x="7151914" y="2394857"/>
            <a:ext cx="2917372" cy="78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Model (e.g. Gemma4)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562258-489A-E055-C5AF-3A8FD8B94015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6172200" y="2786743"/>
            <a:ext cx="979714" cy="12681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C4DEF-0B1C-6DE6-C45C-1AF96BD3DB11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>
            <a:off x="4278086" y="4054928"/>
            <a:ext cx="62048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77EC4F-2243-A7F3-1D22-2B235420B90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172200" y="4054928"/>
            <a:ext cx="979714" cy="1279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BB563-249C-662A-326C-36C2E25FA59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172200" y="4054928"/>
            <a:ext cx="979714" cy="16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7DED29A-ED35-6065-9E0C-7977E2F5C1FB}"/>
              </a:ext>
            </a:extLst>
          </p:cNvPr>
          <p:cNvSpPr txBox="1"/>
          <p:nvPr/>
        </p:nvSpPr>
        <p:spPr>
          <a:xfrm>
            <a:off x="7151914" y="6128657"/>
            <a:ext cx="392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Inference providers are e.g. Nebius, </a:t>
            </a:r>
            <a:r>
              <a:rPr lang="en-US" sz="1400" dirty="0" err="1"/>
              <a:t>runpod</a:t>
            </a:r>
            <a:r>
              <a:rPr lang="en-US" sz="1400" dirty="0"/>
              <a:t>, </a:t>
            </a:r>
            <a:r>
              <a:rPr lang="en-US" sz="1400" dirty="0" err="1"/>
              <a:t>Huggingface</a:t>
            </a:r>
            <a:r>
              <a:rPr lang="en-US" sz="1400" dirty="0"/>
              <a:t> Hub </a:t>
            </a:r>
            <a:r>
              <a:rPr lang="en-US" sz="1400" dirty="0" err="1"/>
              <a:t>etc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48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839C-A9D7-E2F3-A8D5-326D221D2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37C69115-FEAC-0B1B-E84C-0ADCB89F5BAE}"/>
              </a:ext>
            </a:extLst>
          </p:cNvPr>
          <p:cNvSpPr/>
          <p:nvPr/>
        </p:nvSpPr>
        <p:spPr>
          <a:xfrm>
            <a:off x="1749287" y="2125130"/>
            <a:ext cx="7636613" cy="3664891"/>
          </a:xfrm>
          <a:prstGeom prst="ellips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636613"/>
                      <a:gd name="csY0" fmla="*/ 1832446 h 3664891"/>
                      <a:gd name="csX1" fmla="*/ 3818307 w 7636613"/>
                      <a:gd name="csY1" fmla="*/ 0 h 3664891"/>
                      <a:gd name="csX2" fmla="*/ 7636614 w 7636613"/>
                      <a:gd name="csY2" fmla="*/ 1832446 h 3664891"/>
                      <a:gd name="csX3" fmla="*/ 3818307 w 7636613"/>
                      <a:gd name="csY3" fmla="*/ 3664892 h 3664891"/>
                      <a:gd name="csX4" fmla="*/ 0 w 7636613"/>
                      <a:gd name="csY4" fmla="*/ 1832446 h 36648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36613" h="3664891" extrusionOk="0">
                        <a:moveTo>
                          <a:pt x="0" y="1832446"/>
                        </a:moveTo>
                        <a:cubicBezTo>
                          <a:pt x="-442276" y="547608"/>
                          <a:pt x="1473652" y="88523"/>
                          <a:pt x="3818307" y="0"/>
                        </a:cubicBezTo>
                        <a:cubicBezTo>
                          <a:pt x="5951359" y="5107"/>
                          <a:pt x="7560535" y="822833"/>
                          <a:pt x="7636614" y="1832446"/>
                        </a:cubicBezTo>
                        <a:cubicBezTo>
                          <a:pt x="7259948" y="3212313"/>
                          <a:pt x="5896323" y="3835007"/>
                          <a:pt x="3818307" y="3664892"/>
                        </a:cubicBezTo>
                        <a:cubicBezTo>
                          <a:pt x="1536774" y="3570382"/>
                          <a:pt x="70302" y="2878069"/>
                          <a:pt x="0" y="183244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2571D-5A95-DAFC-7366-F00C52E5AB6E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agent = model + “</a:t>
            </a:r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</a:t>
            </a:r>
            <a:r>
              <a:rPr lang="nl-NL" sz="3200" b="1" dirty="0" err="1">
                <a:solidFill>
                  <a:srgbClr val="002060"/>
                </a:solidFill>
              </a:rPr>
              <a:t>harness</a:t>
            </a:r>
            <a:r>
              <a:rPr lang="nl-NL" sz="3200" b="1" dirty="0">
                <a:solidFill>
                  <a:srgbClr val="002060"/>
                </a:solidFill>
              </a:rPr>
              <a:t>”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0EBF4-C60C-3E31-4335-91583B76C40D}"/>
              </a:ext>
            </a:extLst>
          </p:cNvPr>
          <p:cNvSpPr/>
          <p:nvPr/>
        </p:nvSpPr>
        <p:spPr>
          <a:xfrm>
            <a:off x="4502378" y="3618245"/>
            <a:ext cx="2433486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AI model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701A2C-F7F9-FC88-E302-75A0158E8DA3}"/>
              </a:ext>
            </a:extLst>
          </p:cNvPr>
          <p:cNvSpPr/>
          <p:nvPr/>
        </p:nvSpPr>
        <p:spPr>
          <a:xfrm>
            <a:off x="4870982" y="1853695"/>
            <a:ext cx="1696278" cy="678662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>
                <a:solidFill>
                  <a:schemeClr val="bg1"/>
                </a:solidFill>
              </a:rPr>
              <a:t>Skills &amp; MCP</a:t>
            </a:r>
            <a:endParaRPr lang="en-NL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2C52D7-5238-6215-1E68-CB979174E0CC}"/>
              </a:ext>
            </a:extLst>
          </p:cNvPr>
          <p:cNvSpPr/>
          <p:nvPr/>
        </p:nvSpPr>
        <p:spPr>
          <a:xfrm>
            <a:off x="1109822" y="3618244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Memory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1B79135-793A-9573-634A-9D894BF17705}"/>
              </a:ext>
            </a:extLst>
          </p:cNvPr>
          <p:cNvSpPr/>
          <p:nvPr/>
        </p:nvSpPr>
        <p:spPr>
          <a:xfrm>
            <a:off x="8358760" y="3618245"/>
            <a:ext cx="2243925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Prompt &amp; context engineering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4DF030-8AF3-5DAD-E102-4B880087ACC3}"/>
              </a:ext>
            </a:extLst>
          </p:cNvPr>
          <p:cNvSpPr/>
          <p:nvPr/>
        </p:nvSpPr>
        <p:spPr>
          <a:xfrm>
            <a:off x="4959203" y="545343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Sub-</a:t>
            </a:r>
            <a:r>
              <a:rPr lang="nl-NL" dirty="0" err="1">
                <a:solidFill>
                  <a:srgbClr val="002060"/>
                </a:solidFill>
              </a:rPr>
              <a:t>agents</a:t>
            </a:r>
            <a:endParaRPr lang="en-N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87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DC9CD-1B91-8D5F-F07C-93571E24C0F2}"/>
              </a:ext>
            </a:extLst>
          </p:cNvPr>
          <p:cNvSpPr txBox="1"/>
          <p:nvPr/>
        </p:nvSpPr>
        <p:spPr>
          <a:xfrm>
            <a:off x="1528549" y="892189"/>
            <a:ext cx="8737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4000" dirty="0" err="1">
                <a:solidFill>
                  <a:srgbClr val="002060"/>
                </a:solidFill>
              </a:rPr>
              <a:t>Give</a:t>
            </a:r>
            <a:r>
              <a:rPr lang="nl-NL" sz="4000" dirty="0">
                <a:solidFill>
                  <a:srgbClr val="002060"/>
                </a:solidFill>
              </a:rPr>
              <a:t> </a:t>
            </a:r>
            <a:r>
              <a:rPr lang="nl-NL" sz="4000" dirty="0" err="1">
                <a:solidFill>
                  <a:srgbClr val="002060"/>
                </a:solidFill>
              </a:rPr>
              <a:t>better</a:t>
            </a:r>
            <a:r>
              <a:rPr lang="nl-NL" sz="4000" dirty="0">
                <a:solidFill>
                  <a:srgbClr val="002060"/>
                </a:solidFill>
              </a:rPr>
              <a:t> </a:t>
            </a:r>
            <a:r>
              <a:rPr lang="nl-NL" sz="4000" dirty="0" err="1">
                <a:solidFill>
                  <a:srgbClr val="002060"/>
                </a:solidFill>
              </a:rPr>
              <a:t>instructions</a:t>
            </a:r>
            <a:r>
              <a:rPr lang="nl-NL" sz="4000" dirty="0">
                <a:solidFill>
                  <a:srgbClr val="002060"/>
                </a:solidFill>
              </a:rPr>
              <a:t> </a:t>
            </a:r>
            <a:r>
              <a:rPr lang="nl-NL" sz="4000" dirty="0" err="1">
                <a:solidFill>
                  <a:srgbClr val="002060"/>
                </a:solidFill>
              </a:rPr>
              <a:t>with</a:t>
            </a:r>
            <a:r>
              <a:rPr lang="nl-NL" sz="4000" dirty="0">
                <a:solidFill>
                  <a:srgbClr val="002060"/>
                </a:solidFill>
              </a:rPr>
              <a:t> Skills</a:t>
            </a:r>
            <a:endParaRPr lang="en-NL" sz="4000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57DF3-2C0A-6F34-0373-AB5C5E14BFA5}"/>
              </a:ext>
            </a:extLst>
          </p:cNvPr>
          <p:cNvSpPr txBox="1"/>
          <p:nvPr/>
        </p:nvSpPr>
        <p:spPr>
          <a:xfrm>
            <a:off x="1528549" y="2210937"/>
            <a:ext cx="54264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2060"/>
                </a:solidFill>
              </a:rPr>
              <a:t>Skills.MD</a:t>
            </a:r>
            <a:r>
              <a:rPr lang="en-US" sz="2400" dirty="0">
                <a:solidFill>
                  <a:srgbClr val="002060"/>
                </a:solidFill>
              </a:rPr>
              <a:t> is an open standard by Anthropic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It let’s you load a file that instructs the LLM what to do. 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Most often used with Claude.</a:t>
            </a:r>
          </a:p>
          <a:p>
            <a:r>
              <a:rPr lang="en-US" sz="2400" dirty="0">
                <a:solidFill>
                  <a:srgbClr val="002060"/>
                </a:solidFill>
              </a:rPr>
              <a:t>But it’s open source so you can run it with any coding agent.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5B4368-EAE6-7DF7-A3EB-8C0892AFA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706" y="2210937"/>
            <a:ext cx="3936422" cy="3174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E3C88-7BDC-C164-8673-5E23756E315E}"/>
              </a:ext>
            </a:extLst>
          </p:cNvPr>
          <p:cNvSpPr txBox="1"/>
          <p:nvPr/>
        </p:nvSpPr>
        <p:spPr>
          <a:xfrm>
            <a:off x="1713297" y="6169794"/>
            <a:ext cx="491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Find skills at </a:t>
            </a:r>
            <a:r>
              <a:rPr lang="en-US" i="1" dirty="0">
                <a:hlinkClick r:id="rId3"/>
              </a:rPr>
              <a:t>https://officialskills.sh/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502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647D63-D0DC-34B4-CB81-21C6FB2A3EC4}"/>
              </a:ext>
            </a:extLst>
          </p:cNvPr>
          <p:cNvSpPr/>
          <p:nvPr/>
        </p:nvSpPr>
        <p:spPr>
          <a:xfrm>
            <a:off x="817232" y="2000056"/>
            <a:ext cx="6228462" cy="328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buFontTx/>
              <a:buChar char="-"/>
            </a:pPr>
            <a:r>
              <a:rPr lang="en-US" sz="2400" b="0" strike="noStrike" spc="-1" dirty="0">
                <a:solidFill>
                  <a:srgbClr val="002060"/>
                </a:solidFill>
              </a:rPr>
              <a:t>MCP (Model Context Protocol) is an open-source standard for connecting AI agents  with external systems.</a:t>
            </a:r>
          </a:p>
          <a:p>
            <a:pPr marL="342900" indent="-342900">
              <a:lnSpc>
                <a:spcPct val="100000"/>
              </a:lnSpc>
              <a:buFontTx/>
              <a:buChar char="-"/>
            </a:pPr>
            <a:endParaRPr lang="en-US" sz="2400" b="0" strike="noStrike" spc="-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00000"/>
              </a:lnSpc>
              <a:buFontTx/>
              <a:buChar char="-"/>
            </a:pPr>
            <a:r>
              <a:rPr lang="en-US" sz="2400" b="0" strike="noStrike" spc="-1" dirty="0">
                <a:solidFill>
                  <a:srgbClr val="002060"/>
                </a:solidFill>
              </a:rPr>
              <a:t>Using MCP AI agents can connect to data sources, tools and workflows.</a:t>
            </a:r>
          </a:p>
          <a:p>
            <a:pPr marL="342900" indent="-342900">
              <a:lnSpc>
                <a:spcPct val="100000"/>
              </a:lnSpc>
              <a:buFontTx/>
              <a:buChar char="-"/>
            </a:pPr>
            <a:endParaRPr lang="en-US" sz="2400" b="0" strike="noStrike" spc="-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00000"/>
              </a:lnSpc>
              <a:buFontTx/>
              <a:buChar char="-"/>
            </a:pPr>
            <a:r>
              <a:rPr lang="en-US" sz="2400" b="0" strike="noStrike" spc="-1" dirty="0">
                <a:solidFill>
                  <a:srgbClr val="002060"/>
                </a:solidFill>
              </a:rPr>
              <a:t>Kind of like a specialized API language for agents!</a:t>
            </a:r>
          </a:p>
          <a:p>
            <a:pPr marL="342900" indent="-342900">
              <a:lnSpc>
                <a:spcPct val="100000"/>
              </a:lnSpc>
              <a:buFontTx/>
              <a:buChar char="-"/>
            </a:pPr>
            <a:endParaRPr lang="en-US" sz="2400" spc="-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00000"/>
              </a:lnSpc>
              <a:buFontTx/>
              <a:buChar char="-"/>
            </a:pPr>
            <a:endParaRPr lang="en-US" sz="2400" spc="-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8602B-E0C3-32EC-79E3-08B03B9A7279}"/>
              </a:ext>
            </a:extLst>
          </p:cNvPr>
          <p:cNvSpPr txBox="1"/>
          <p:nvPr/>
        </p:nvSpPr>
        <p:spPr>
          <a:xfrm>
            <a:off x="1067125" y="686597"/>
            <a:ext cx="9251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What is MCP</a:t>
            </a:r>
          </a:p>
        </p:txBody>
      </p:sp>
      <p:pic>
        <p:nvPicPr>
          <p:cNvPr id="8194" name="Picture 2" descr="Build Your First MCP Server with TypeScript and watsonx.ai Flows Engine">
            <a:extLst>
              <a:ext uri="{FF2B5EF4-FFF2-40B4-BE49-F238E27FC236}">
                <a16:creationId xmlns:a16="http://schemas.microsoft.com/office/drawing/2014/main" id="{3DAB892B-EE6C-1BE9-5728-7188BFE5D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82" y="2000056"/>
            <a:ext cx="4715005" cy="218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39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E9FF9-2943-4071-1CE3-68352437912F}"/>
              </a:ext>
            </a:extLst>
          </p:cNvPr>
          <p:cNvSpPr txBox="1"/>
          <p:nvPr/>
        </p:nvSpPr>
        <p:spPr>
          <a:xfrm>
            <a:off x="1721642" y="1922425"/>
            <a:ext cx="89009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REST is the right choice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You're building a service other developers or apps will consume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You want standard HTTP tooling (caching, auth, rate limiting, load balancing)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consumer just needs data, not reasoning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FFE75-E7D8-4379-9F43-882142B5C5B2}"/>
              </a:ext>
            </a:extLst>
          </p:cNvPr>
          <p:cNvSpPr txBox="1"/>
          <p:nvPr/>
        </p:nvSpPr>
        <p:spPr>
          <a:xfrm>
            <a:off x="1721642" y="3914775"/>
            <a:ext cx="92511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MCP is best when:</a:t>
            </a:r>
          </a:p>
          <a:p>
            <a:r>
              <a:rPr lang="en-US" sz="2000" dirty="0">
                <a:solidFill>
                  <a:srgbClr val="002060"/>
                </a:solidFill>
              </a:rPr>
              <a:t>- An LLM needs to decide </a:t>
            </a:r>
            <a:r>
              <a:rPr lang="en-US" sz="2000" i="1" dirty="0">
                <a:solidFill>
                  <a:srgbClr val="002060"/>
                </a:solidFill>
              </a:rPr>
              <a:t>which</a:t>
            </a:r>
            <a:r>
              <a:rPr lang="en-US" sz="2000" dirty="0">
                <a:solidFill>
                  <a:srgbClr val="002060"/>
                </a:solidFill>
              </a:rPr>
              <a:t> tool to call based on a user's natural language request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- You want one agent to expose capabilities to another agent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- You're building something where the set of available tools isn't known at code-write time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E04AB-DA46-7465-2143-0760394D5D53}"/>
              </a:ext>
            </a:extLst>
          </p:cNvPr>
          <p:cNvSpPr txBox="1"/>
          <p:nvPr/>
        </p:nvSpPr>
        <p:spPr>
          <a:xfrm>
            <a:off x="1721643" y="668740"/>
            <a:ext cx="9251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MCP vs REST</a:t>
            </a:r>
          </a:p>
        </p:txBody>
      </p:sp>
    </p:spTree>
    <p:extLst>
      <p:ext uri="{BB962C8B-B14F-4D97-AF65-F5344CB8AC3E}">
        <p14:creationId xmlns:p14="http://schemas.microsoft.com/office/powerpoint/2010/main" val="302454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7960-3660-3895-640B-BA22838B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52BC11E-06C5-3E03-9191-D336D4C9111B}"/>
              </a:ext>
            </a:extLst>
          </p:cNvPr>
          <p:cNvSpPr/>
          <p:nvPr/>
        </p:nvSpPr>
        <p:spPr>
          <a:xfrm>
            <a:off x="1749287" y="2125130"/>
            <a:ext cx="7636613" cy="3664891"/>
          </a:xfrm>
          <a:prstGeom prst="ellips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636613"/>
                      <a:gd name="csY0" fmla="*/ 1832446 h 3664891"/>
                      <a:gd name="csX1" fmla="*/ 3818307 w 7636613"/>
                      <a:gd name="csY1" fmla="*/ 0 h 3664891"/>
                      <a:gd name="csX2" fmla="*/ 7636614 w 7636613"/>
                      <a:gd name="csY2" fmla="*/ 1832446 h 3664891"/>
                      <a:gd name="csX3" fmla="*/ 3818307 w 7636613"/>
                      <a:gd name="csY3" fmla="*/ 3664892 h 3664891"/>
                      <a:gd name="csX4" fmla="*/ 0 w 7636613"/>
                      <a:gd name="csY4" fmla="*/ 1832446 h 36648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36613" h="3664891" extrusionOk="0">
                        <a:moveTo>
                          <a:pt x="0" y="1832446"/>
                        </a:moveTo>
                        <a:cubicBezTo>
                          <a:pt x="-442276" y="547608"/>
                          <a:pt x="1473652" y="88523"/>
                          <a:pt x="3818307" y="0"/>
                        </a:cubicBezTo>
                        <a:cubicBezTo>
                          <a:pt x="5951359" y="5107"/>
                          <a:pt x="7560535" y="822833"/>
                          <a:pt x="7636614" y="1832446"/>
                        </a:cubicBezTo>
                        <a:cubicBezTo>
                          <a:pt x="7259948" y="3212313"/>
                          <a:pt x="5896323" y="3835007"/>
                          <a:pt x="3818307" y="3664892"/>
                        </a:cubicBezTo>
                        <a:cubicBezTo>
                          <a:pt x="1536774" y="3570382"/>
                          <a:pt x="70302" y="2878069"/>
                          <a:pt x="0" y="183244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9842D-7B54-0E42-6C13-B907CF6D0A4C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agent = model + “</a:t>
            </a:r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</a:t>
            </a:r>
            <a:r>
              <a:rPr lang="nl-NL" sz="3200" b="1" dirty="0" err="1">
                <a:solidFill>
                  <a:srgbClr val="002060"/>
                </a:solidFill>
              </a:rPr>
              <a:t>harness</a:t>
            </a:r>
            <a:r>
              <a:rPr lang="nl-NL" sz="3200" b="1" dirty="0">
                <a:solidFill>
                  <a:srgbClr val="002060"/>
                </a:solidFill>
              </a:rPr>
              <a:t>”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EF9F403-1EB8-5518-7AC8-B52F893641AD}"/>
              </a:ext>
            </a:extLst>
          </p:cNvPr>
          <p:cNvSpPr/>
          <p:nvPr/>
        </p:nvSpPr>
        <p:spPr>
          <a:xfrm>
            <a:off x="4502378" y="3618245"/>
            <a:ext cx="2433486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AI model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A1D229-2C4C-CE88-003E-005ECD8DFE87}"/>
              </a:ext>
            </a:extLst>
          </p:cNvPr>
          <p:cNvSpPr/>
          <p:nvPr/>
        </p:nvSpPr>
        <p:spPr>
          <a:xfrm>
            <a:off x="4870982" y="185369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Skills &amp; MCP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17984E-97E8-3CB4-1877-852CF25D3076}"/>
              </a:ext>
            </a:extLst>
          </p:cNvPr>
          <p:cNvSpPr/>
          <p:nvPr/>
        </p:nvSpPr>
        <p:spPr>
          <a:xfrm>
            <a:off x="1109822" y="3618244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Memory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70A224-4490-C8B2-371E-2897EE1067A0}"/>
              </a:ext>
            </a:extLst>
          </p:cNvPr>
          <p:cNvSpPr/>
          <p:nvPr/>
        </p:nvSpPr>
        <p:spPr>
          <a:xfrm>
            <a:off x="8358760" y="3618245"/>
            <a:ext cx="2243925" cy="678662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bg1"/>
                </a:solidFill>
              </a:rPr>
              <a:t>Prompt &amp; </a:t>
            </a:r>
            <a:r>
              <a:rPr lang="nl-NL" b="1">
                <a:solidFill>
                  <a:schemeClr val="bg1"/>
                </a:solidFill>
              </a:rPr>
              <a:t>context engineering</a:t>
            </a:r>
            <a:endParaRPr lang="en-NL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31AE91-7A1A-472F-B056-A2B21C2C0B72}"/>
              </a:ext>
            </a:extLst>
          </p:cNvPr>
          <p:cNvSpPr/>
          <p:nvPr/>
        </p:nvSpPr>
        <p:spPr>
          <a:xfrm>
            <a:off x="4959203" y="545343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Sub-</a:t>
            </a:r>
            <a:r>
              <a:rPr lang="nl-NL" dirty="0" err="1">
                <a:solidFill>
                  <a:srgbClr val="002060"/>
                </a:solidFill>
              </a:rPr>
              <a:t>agents</a:t>
            </a:r>
            <a:endParaRPr lang="en-N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39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06035-EE01-1ED2-6BD7-C11E6E157EBB}"/>
              </a:ext>
            </a:extLst>
          </p:cNvPr>
          <p:cNvSpPr txBox="1"/>
          <p:nvPr/>
        </p:nvSpPr>
        <p:spPr>
          <a:xfrm>
            <a:off x="-766672" y="771167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>
                <a:solidFill>
                  <a:srgbClr val="002060"/>
                </a:solidFill>
              </a:rPr>
              <a:t>Prompt &amp; context engineering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5C7EF-3BE5-5198-8B5C-6755A42ED5AF}"/>
              </a:ext>
            </a:extLst>
          </p:cNvPr>
          <p:cNvSpPr txBox="1"/>
          <p:nvPr/>
        </p:nvSpPr>
        <p:spPr>
          <a:xfrm>
            <a:off x="656491" y="2663645"/>
            <a:ext cx="30083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Prompt engineering: write better &amp; longer prompts.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Context engine</a:t>
            </a:r>
            <a:r>
              <a:rPr lang="en-US" sz="2000" dirty="0">
                <a:solidFill>
                  <a:srgbClr val="002060"/>
                </a:solidFill>
              </a:rPr>
              <a:t>e</a:t>
            </a:r>
            <a:r>
              <a:rPr lang="en-US" dirty="0">
                <a:solidFill>
                  <a:srgbClr val="002060"/>
                </a:solidFill>
              </a:rPr>
              <a:t>ring: provide your model with the right context documents: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Architecture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Style guides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Patterns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2060"/>
                </a:solidFill>
              </a:rPr>
              <a:t>Master data</a:t>
            </a:r>
          </a:p>
          <a:p>
            <a:r>
              <a:rPr lang="en-US" dirty="0">
                <a:solidFill>
                  <a:srgbClr val="002060"/>
                </a:solidFill>
              </a:rPr>
              <a:t>	</a:t>
            </a:r>
          </a:p>
        </p:txBody>
      </p:sp>
      <p:pic>
        <p:nvPicPr>
          <p:cNvPr id="4" name="Picture 3" descr="prompt versus context engineering">
            <a:extLst>
              <a:ext uri="{FF2B5EF4-FFF2-40B4-BE49-F238E27FC236}">
                <a16:creationId xmlns:a16="http://schemas.microsoft.com/office/drawing/2014/main" id="{9AAAAF15-FE79-1CEB-3E13-A6DEAEC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025" y="2014716"/>
            <a:ext cx="7199484" cy="3779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5402F2-481D-C122-217E-EE5D3F7D8C54}"/>
              </a:ext>
            </a:extLst>
          </p:cNvPr>
          <p:cNvSpPr txBox="1"/>
          <p:nvPr/>
        </p:nvSpPr>
        <p:spPr>
          <a:xfrm>
            <a:off x="656491" y="6268553"/>
            <a:ext cx="648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https://weaviate.io/blog/context-engineering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149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92BD-AAF0-933A-547D-C38989B7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5669AF9-0B02-5AE4-C320-2ED4777A07C3}"/>
              </a:ext>
            </a:extLst>
          </p:cNvPr>
          <p:cNvSpPr/>
          <p:nvPr/>
        </p:nvSpPr>
        <p:spPr>
          <a:xfrm>
            <a:off x="1749287" y="2125130"/>
            <a:ext cx="7636613" cy="3664891"/>
          </a:xfrm>
          <a:prstGeom prst="ellips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636613"/>
                      <a:gd name="csY0" fmla="*/ 1832446 h 3664891"/>
                      <a:gd name="csX1" fmla="*/ 3818307 w 7636613"/>
                      <a:gd name="csY1" fmla="*/ 0 h 3664891"/>
                      <a:gd name="csX2" fmla="*/ 7636614 w 7636613"/>
                      <a:gd name="csY2" fmla="*/ 1832446 h 3664891"/>
                      <a:gd name="csX3" fmla="*/ 3818307 w 7636613"/>
                      <a:gd name="csY3" fmla="*/ 3664892 h 3664891"/>
                      <a:gd name="csX4" fmla="*/ 0 w 7636613"/>
                      <a:gd name="csY4" fmla="*/ 1832446 h 36648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36613" h="3664891" extrusionOk="0">
                        <a:moveTo>
                          <a:pt x="0" y="1832446"/>
                        </a:moveTo>
                        <a:cubicBezTo>
                          <a:pt x="-442276" y="547608"/>
                          <a:pt x="1473652" y="88523"/>
                          <a:pt x="3818307" y="0"/>
                        </a:cubicBezTo>
                        <a:cubicBezTo>
                          <a:pt x="5951359" y="5107"/>
                          <a:pt x="7560535" y="822833"/>
                          <a:pt x="7636614" y="1832446"/>
                        </a:cubicBezTo>
                        <a:cubicBezTo>
                          <a:pt x="7259948" y="3212313"/>
                          <a:pt x="5896323" y="3835007"/>
                          <a:pt x="3818307" y="3664892"/>
                        </a:cubicBezTo>
                        <a:cubicBezTo>
                          <a:pt x="1536774" y="3570382"/>
                          <a:pt x="70302" y="2878069"/>
                          <a:pt x="0" y="183244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6B6FC-D405-DEEC-478F-05E472255F6E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agent = model + “</a:t>
            </a:r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</a:t>
            </a:r>
            <a:r>
              <a:rPr lang="nl-NL" sz="3200" b="1" dirty="0" err="1">
                <a:solidFill>
                  <a:srgbClr val="002060"/>
                </a:solidFill>
              </a:rPr>
              <a:t>harness</a:t>
            </a:r>
            <a:r>
              <a:rPr lang="nl-NL" sz="3200" b="1" dirty="0">
                <a:solidFill>
                  <a:srgbClr val="002060"/>
                </a:solidFill>
              </a:rPr>
              <a:t>”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D2006F-F345-873D-2529-E04BCD74F61B}"/>
              </a:ext>
            </a:extLst>
          </p:cNvPr>
          <p:cNvSpPr/>
          <p:nvPr/>
        </p:nvSpPr>
        <p:spPr>
          <a:xfrm>
            <a:off x="4502378" y="3618245"/>
            <a:ext cx="2433486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AI model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A26-E1FE-30EB-0CF7-9ACFFF921E06}"/>
              </a:ext>
            </a:extLst>
          </p:cNvPr>
          <p:cNvSpPr/>
          <p:nvPr/>
        </p:nvSpPr>
        <p:spPr>
          <a:xfrm>
            <a:off x="4870982" y="185369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Skills &amp; MCP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EC4048-54F2-BF2E-B1E8-36DA71198555}"/>
              </a:ext>
            </a:extLst>
          </p:cNvPr>
          <p:cNvSpPr/>
          <p:nvPr/>
        </p:nvSpPr>
        <p:spPr>
          <a:xfrm>
            <a:off x="1109822" y="3618244"/>
            <a:ext cx="1696278" cy="678662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>
                <a:solidFill>
                  <a:schemeClr val="bg1"/>
                </a:solidFill>
              </a:rPr>
              <a:t>Memory</a:t>
            </a:r>
            <a:endParaRPr lang="en-NL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684C3A-DB78-92B9-C5A9-25F4730D6303}"/>
              </a:ext>
            </a:extLst>
          </p:cNvPr>
          <p:cNvSpPr/>
          <p:nvPr/>
        </p:nvSpPr>
        <p:spPr>
          <a:xfrm>
            <a:off x="8358760" y="3618245"/>
            <a:ext cx="2243925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Prompt &amp; context engineering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666DE2-6D0B-13A1-7E68-4DA5C24D4DC7}"/>
              </a:ext>
            </a:extLst>
          </p:cNvPr>
          <p:cNvSpPr/>
          <p:nvPr/>
        </p:nvSpPr>
        <p:spPr>
          <a:xfrm>
            <a:off x="4959203" y="545343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Sub-</a:t>
            </a:r>
            <a:r>
              <a:rPr lang="nl-NL" dirty="0" err="1">
                <a:solidFill>
                  <a:srgbClr val="002060"/>
                </a:solidFill>
              </a:rPr>
              <a:t>agents</a:t>
            </a:r>
            <a:endParaRPr lang="en-N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440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tiers of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Coding Harness uses three distinct kinds of “memory” — </a:t>
            </a:r>
            <a:r>
              <a:rPr lang="en-US" sz="145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of them actually learns.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 w="12700">
            <a:solidFill>
              <a:srgbClr val="DCE4F5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2327148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57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state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59536" y="29077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29077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· LOCAL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7824" y="3447288"/>
            <a:ext cx="29626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</a:rPr>
              <a:t>Everything from current session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84708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 w="12700">
            <a:solidFill>
              <a:srgbClr val="DCE4F5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2157984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2327148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2157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608576" y="29077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3E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08576" y="29077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· AUTHORED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26864" y="3447288"/>
            <a:ext cx="29626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AGENTS.md and .github/instructions/</a:t>
            </a:r>
            <a:endParaRPr lang="en-US" sz="1200" dirty="0"/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from Skills</a:t>
            </a:r>
            <a:endParaRPr lang="en-US" sz="1200" dirty="0"/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config, not learned</a:t>
            </a:r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</a:rPr>
              <a:t>Settings as SDD / TDD 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184708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EEF3FC"/>
          </a:solidFill>
          <a:ln w="12700">
            <a:solidFill>
              <a:srgbClr val="DCE4F5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339328" y="2157984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92" y="2327148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70848" y="21579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Memory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8357616" y="29077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357616" y="29077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· HOSTED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375904" y="3447288"/>
            <a:ext cx="29626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automatically as it works</a:t>
            </a:r>
            <a:endParaRPr lang="en-US" sz="1200" dirty="0"/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facts + user preferences</a:t>
            </a:r>
            <a:endParaRPr lang="en-US" sz="1200" dirty="0"/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Validated; auto-expires after 28 days</a:t>
            </a:r>
            <a:endParaRPr lang="en-US" sz="1200" dirty="0"/>
          </a:p>
          <a:p>
            <a:pPr marL="165100" indent="-165100" algn="l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6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across CLI, cloud agent, review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41FC-F7E8-C253-3699-45557B1F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D946EC2-C8E6-8DC3-1D49-9B67DCB5FE19}"/>
              </a:ext>
            </a:extLst>
          </p:cNvPr>
          <p:cNvSpPr/>
          <p:nvPr/>
        </p:nvSpPr>
        <p:spPr>
          <a:xfrm>
            <a:off x="1749287" y="2125130"/>
            <a:ext cx="7636613" cy="3664891"/>
          </a:xfrm>
          <a:prstGeom prst="ellipse">
            <a:avLst/>
          </a:prstGeom>
          <a:noFill/>
          <a:ln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7636613"/>
                      <a:gd name="csY0" fmla="*/ 1832446 h 3664891"/>
                      <a:gd name="csX1" fmla="*/ 3818307 w 7636613"/>
                      <a:gd name="csY1" fmla="*/ 0 h 3664891"/>
                      <a:gd name="csX2" fmla="*/ 7636614 w 7636613"/>
                      <a:gd name="csY2" fmla="*/ 1832446 h 3664891"/>
                      <a:gd name="csX3" fmla="*/ 3818307 w 7636613"/>
                      <a:gd name="csY3" fmla="*/ 3664892 h 3664891"/>
                      <a:gd name="csX4" fmla="*/ 0 w 7636613"/>
                      <a:gd name="csY4" fmla="*/ 1832446 h 366489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636613" h="3664891" extrusionOk="0">
                        <a:moveTo>
                          <a:pt x="0" y="1832446"/>
                        </a:moveTo>
                        <a:cubicBezTo>
                          <a:pt x="-442276" y="547608"/>
                          <a:pt x="1473652" y="88523"/>
                          <a:pt x="3818307" y="0"/>
                        </a:cubicBezTo>
                        <a:cubicBezTo>
                          <a:pt x="5951359" y="5107"/>
                          <a:pt x="7560535" y="822833"/>
                          <a:pt x="7636614" y="1832446"/>
                        </a:cubicBezTo>
                        <a:cubicBezTo>
                          <a:pt x="7259948" y="3212313"/>
                          <a:pt x="5896323" y="3835007"/>
                          <a:pt x="3818307" y="3664892"/>
                        </a:cubicBezTo>
                        <a:cubicBezTo>
                          <a:pt x="1536774" y="3570382"/>
                          <a:pt x="70302" y="2878069"/>
                          <a:pt x="0" y="183244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3DEFD-0333-6BC2-E636-E5A17C44BE57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agent = model + “</a:t>
            </a:r>
            <a:r>
              <a:rPr lang="nl-NL" sz="3200" b="1" dirty="0" err="1">
                <a:solidFill>
                  <a:srgbClr val="002060"/>
                </a:solidFill>
              </a:rPr>
              <a:t>coding</a:t>
            </a:r>
            <a:r>
              <a:rPr lang="nl-NL" sz="3200" b="1" dirty="0">
                <a:solidFill>
                  <a:srgbClr val="002060"/>
                </a:solidFill>
              </a:rPr>
              <a:t> </a:t>
            </a:r>
            <a:r>
              <a:rPr lang="nl-NL" sz="3200" b="1" dirty="0" err="1">
                <a:solidFill>
                  <a:srgbClr val="002060"/>
                </a:solidFill>
              </a:rPr>
              <a:t>harness</a:t>
            </a:r>
            <a:r>
              <a:rPr lang="nl-NL" sz="3200" b="1" dirty="0">
                <a:solidFill>
                  <a:srgbClr val="002060"/>
                </a:solidFill>
              </a:rPr>
              <a:t>”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C91711A-83DF-056B-334F-612E3A624ADB}"/>
              </a:ext>
            </a:extLst>
          </p:cNvPr>
          <p:cNvSpPr/>
          <p:nvPr/>
        </p:nvSpPr>
        <p:spPr>
          <a:xfrm>
            <a:off x="4502378" y="3618245"/>
            <a:ext cx="2433486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AI model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B23A10-FE02-16C7-1028-2023505C94C2}"/>
              </a:ext>
            </a:extLst>
          </p:cNvPr>
          <p:cNvSpPr/>
          <p:nvPr/>
        </p:nvSpPr>
        <p:spPr>
          <a:xfrm>
            <a:off x="4870982" y="1853695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Skills &amp; MCP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B45ABA7-9EFF-0256-94A1-241789815CE2}"/>
              </a:ext>
            </a:extLst>
          </p:cNvPr>
          <p:cNvSpPr/>
          <p:nvPr/>
        </p:nvSpPr>
        <p:spPr>
          <a:xfrm>
            <a:off x="1109822" y="3618244"/>
            <a:ext cx="1696278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rgbClr val="002060"/>
                </a:solidFill>
              </a:rPr>
              <a:t>Memory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0235C7-9987-7443-EB24-31C2119FAAE8}"/>
              </a:ext>
            </a:extLst>
          </p:cNvPr>
          <p:cNvSpPr/>
          <p:nvPr/>
        </p:nvSpPr>
        <p:spPr>
          <a:xfrm>
            <a:off x="8358760" y="3618245"/>
            <a:ext cx="2243925" cy="678662"/>
          </a:xfrm>
          <a:prstGeom prst="roundRect">
            <a:avLst>
              <a:gd name="adj" fmla="val 50000"/>
            </a:avLst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rgbClr val="002060"/>
                </a:solidFill>
              </a:rPr>
              <a:t>Prompt &amp; context engineering</a:t>
            </a:r>
            <a:endParaRPr lang="en-NL" dirty="0">
              <a:solidFill>
                <a:srgbClr val="00206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9FF1902-3CBF-C5AB-9395-731CF93202C1}"/>
              </a:ext>
            </a:extLst>
          </p:cNvPr>
          <p:cNvSpPr/>
          <p:nvPr/>
        </p:nvSpPr>
        <p:spPr>
          <a:xfrm>
            <a:off x="4959203" y="5453435"/>
            <a:ext cx="1696278" cy="678662"/>
          </a:xfrm>
          <a:prstGeom prst="roundRect">
            <a:avLst>
              <a:gd name="adj" fmla="val 50000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b="1">
                <a:solidFill>
                  <a:schemeClr val="bg1"/>
                </a:solidFill>
              </a:rPr>
              <a:t>Sub-agents</a:t>
            </a:r>
            <a:endParaRPr lang="en-N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264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91264-B833-C7E1-C424-6C10159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3D39F7-0173-8AFC-BE8B-61B6D6BF758C}"/>
              </a:ext>
            </a:extLst>
          </p:cNvPr>
          <p:cNvSpPr/>
          <p:nvPr/>
        </p:nvSpPr>
        <p:spPr>
          <a:xfrm>
            <a:off x="548640" y="219456"/>
            <a:ext cx="11094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systems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3BF39B-B026-D3C2-E390-A8C3F95E8CA0}"/>
              </a:ext>
            </a:extLst>
          </p:cNvPr>
          <p:cNvSpPr/>
          <p:nvPr/>
        </p:nvSpPr>
        <p:spPr>
          <a:xfrm>
            <a:off x="548640" y="804672"/>
            <a:ext cx="1109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4A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city noise report pipeline — three agents, one task</a:t>
            </a:r>
            <a:endParaRPr lang="en-US" sz="11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39B701-C133-7B40-8C38-D5F4AA0EBC21}"/>
              </a:ext>
            </a:extLst>
          </p:cNvPr>
          <p:cNvSpPr/>
          <p:nvPr/>
        </p:nvSpPr>
        <p:spPr>
          <a:xfrm>
            <a:off x="548640" y="1133856"/>
            <a:ext cx="11094720" cy="0"/>
          </a:xfrm>
          <a:prstGeom prst="line">
            <a:avLst/>
          </a:prstGeom>
          <a:noFill/>
          <a:ln w="10160">
            <a:solidFill>
              <a:srgbClr val="2E9EC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DE9BCD-D9D2-8633-3BE7-8A3EE7D1A4D6}"/>
              </a:ext>
            </a:extLst>
          </p:cNvPr>
          <p:cNvSpPr/>
          <p:nvPr/>
        </p:nvSpPr>
        <p:spPr>
          <a:xfrm>
            <a:off x="548640" y="1243584"/>
            <a:ext cx="1109472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A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929765-26C1-7880-EAD1-7158CFFA051C}"/>
              </a:ext>
            </a:extLst>
          </p:cNvPr>
          <p:cNvSpPr/>
          <p:nvPr/>
        </p:nvSpPr>
        <p:spPr>
          <a:xfrm>
            <a:off x="707136" y="126796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</a:t>
            </a:r>
            <a:endParaRPr lang="en-US" sz="1133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194B9E-E7FA-AEA2-1A04-3E9884B0AA37}"/>
              </a:ext>
            </a:extLst>
          </p:cNvPr>
          <p:cNvSpPr/>
          <p:nvPr/>
        </p:nvSpPr>
        <p:spPr>
          <a:xfrm>
            <a:off x="1243584" y="12679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56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"Measure background noise at 5 Amsterdam intersections and produce an ISO 9614 compliance report."</a:t>
            </a:r>
            <a:endParaRPr lang="en-US" sz="1133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C7A749-5DC8-FA8D-61B4-01ED749BA69B}"/>
              </a:ext>
            </a:extLst>
          </p:cNvPr>
          <p:cNvSpPr/>
          <p:nvPr/>
        </p:nvSpPr>
        <p:spPr>
          <a:xfrm>
            <a:off x="548640" y="1828800"/>
            <a:ext cx="3389376" cy="3364992"/>
          </a:xfrm>
          <a:prstGeom prst="rect">
            <a:avLst/>
          </a:prstGeom>
          <a:solidFill>
            <a:srgbClr val="E6F1FB"/>
          </a:solidFill>
          <a:ln w="1016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A09A72-E69A-3951-72A2-B993559392B0}"/>
              </a:ext>
            </a:extLst>
          </p:cNvPr>
          <p:cNvSpPr/>
          <p:nvPr/>
        </p:nvSpPr>
        <p:spPr>
          <a:xfrm>
            <a:off x="548640" y="1828800"/>
            <a:ext cx="3389376" cy="633984"/>
          </a:xfrm>
          <a:prstGeom prst="rect">
            <a:avLst/>
          </a:prstGeom>
          <a:solidFill>
            <a:srgbClr val="0D2D6B"/>
          </a:solidFill>
          <a:ln w="1270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FFCE0C-BB28-3A03-12C9-683705E825D0}"/>
              </a:ext>
            </a:extLst>
          </p:cNvPr>
          <p:cNvSpPr/>
          <p:nvPr/>
        </p:nvSpPr>
        <p:spPr>
          <a:xfrm>
            <a:off x="682752" y="1938528"/>
            <a:ext cx="390144" cy="3901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1736EF8-B6E9-01FE-D227-79A2A9C6E04E}"/>
              </a:ext>
            </a:extLst>
          </p:cNvPr>
          <p:cNvSpPr/>
          <p:nvPr/>
        </p:nvSpPr>
        <p:spPr>
          <a:xfrm>
            <a:off x="682752" y="193852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D24683-966E-CDBE-39ED-D2BE605A856D}"/>
              </a:ext>
            </a:extLst>
          </p:cNvPr>
          <p:cNvSpPr/>
          <p:nvPr/>
        </p:nvSpPr>
        <p:spPr>
          <a:xfrm>
            <a:off x="1158240" y="1865376"/>
            <a:ext cx="26578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7523A5-77D8-D002-3D15-FDDA124E0033}"/>
              </a:ext>
            </a:extLst>
          </p:cNvPr>
          <p:cNvSpPr/>
          <p:nvPr/>
        </p:nvSpPr>
        <p:spPr>
          <a:xfrm>
            <a:off x="1158240" y="21701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high-level tasks</a:t>
            </a:r>
            <a:endParaRPr lang="en-US" sz="104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A3C014-27CC-4A7A-432E-81B96C867324}"/>
              </a:ext>
            </a:extLst>
          </p:cNvPr>
          <p:cNvSpPr/>
          <p:nvPr/>
        </p:nvSpPr>
        <p:spPr>
          <a:xfrm>
            <a:off x="694944" y="2535936"/>
            <a:ext cx="309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</a:t>
            </a:r>
            <a:endParaRPr lang="en-US" sz="827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19AB4F-30A2-B19E-8D1B-E99F9CF584BC}"/>
              </a:ext>
            </a:extLst>
          </p:cNvPr>
          <p:cNvSpPr/>
          <p:nvPr/>
        </p:nvSpPr>
        <p:spPr>
          <a:xfrm>
            <a:off x="707136" y="2901696"/>
            <a:ext cx="85344" cy="85344"/>
          </a:xfrm>
          <a:prstGeom prst="ellipse">
            <a:avLst/>
          </a:prstGeom>
          <a:solidFill>
            <a:srgbClr val="0D2D6B"/>
          </a:solidFill>
          <a:ln w="1270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39ACAB-DEB1-37BA-C511-7AD46B6A5787}"/>
              </a:ext>
            </a:extLst>
          </p:cNvPr>
          <p:cNvSpPr/>
          <p:nvPr/>
        </p:nvSpPr>
        <p:spPr>
          <a:xfrm>
            <a:off x="853440" y="281635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goal into subtasks</a:t>
            </a:r>
            <a:endParaRPr lang="en-US" sz="104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CB7DDEA-0F07-5777-B00B-78A3A780F161}"/>
              </a:ext>
            </a:extLst>
          </p:cNvPr>
          <p:cNvSpPr/>
          <p:nvPr/>
        </p:nvSpPr>
        <p:spPr>
          <a:xfrm>
            <a:off x="707136" y="3291840"/>
            <a:ext cx="85344" cy="85344"/>
          </a:xfrm>
          <a:prstGeom prst="ellipse">
            <a:avLst/>
          </a:prstGeom>
          <a:solidFill>
            <a:srgbClr val="0D2D6B"/>
          </a:solidFill>
          <a:ln w="1270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E7EC42-0605-5225-B541-D0326473DC47}"/>
              </a:ext>
            </a:extLst>
          </p:cNvPr>
          <p:cNvSpPr/>
          <p:nvPr/>
        </p:nvSpPr>
        <p:spPr>
          <a:xfrm>
            <a:off x="853440" y="3206496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locations &amp; priorities</a:t>
            </a:r>
            <a:endParaRPr lang="en-US" sz="104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5718128-F525-478D-E6F8-A985FA831F39}"/>
              </a:ext>
            </a:extLst>
          </p:cNvPr>
          <p:cNvSpPr/>
          <p:nvPr/>
        </p:nvSpPr>
        <p:spPr>
          <a:xfrm>
            <a:off x="707136" y="3681984"/>
            <a:ext cx="85344" cy="85344"/>
          </a:xfrm>
          <a:prstGeom prst="ellipse">
            <a:avLst/>
          </a:prstGeom>
          <a:solidFill>
            <a:srgbClr val="0D2D6B"/>
          </a:solidFill>
          <a:ln w="1270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F398AF-8AF0-0FED-6641-DC84A5FE801E}"/>
              </a:ext>
            </a:extLst>
          </p:cNvPr>
          <p:cNvSpPr/>
          <p:nvPr/>
        </p:nvSpPr>
        <p:spPr>
          <a:xfrm>
            <a:off x="853440" y="3596640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success criteria per task</a:t>
            </a:r>
            <a:endParaRPr lang="en-US" sz="104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10B9FF9-A212-CA55-3FE9-71E7AAF0A387}"/>
              </a:ext>
            </a:extLst>
          </p:cNvPr>
          <p:cNvSpPr/>
          <p:nvPr/>
        </p:nvSpPr>
        <p:spPr>
          <a:xfrm>
            <a:off x="707136" y="4072128"/>
            <a:ext cx="85344" cy="85344"/>
          </a:xfrm>
          <a:prstGeom prst="ellipse">
            <a:avLst/>
          </a:prstGeom>
          <a:solidFill>
            <a:srgbClr val="0D2D6B"/>
          </a:solidFill>
          <a:ln w="12700">
            <a:solidFill>
              <a:srgbClr val="0D2D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BA8179-7DFE-067E-C947-82CD394F6DD9}"/>
              </a:ext>
            </a:extLst>
          </p:cNvPr>
          <p:cNvSpPr/>
          <p:nvPr/>
        </p:nvSpPr>
        <p:spPr>
          <a:xfrm>
            <a:off x="853440" y="3986784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tasks &amp; set timing</a:t>
            </a:r>
            <a:endParaRPr lang="en-US" sz="104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3ECB174-90F5-664C-214B-CCAA1E31D883}"/>
              </a:ext>
            </a:extLst>
          </p:cNvPr>
          <p:cNvSpPr/>
          <p:nvPr/>
        </p:nvSpPr>
        <p:spPr>
          <a:xfrm>
            <a:off x="694944" y="4511040"/>
            <a:ext cx="3096768" cy="0"/>
          </a:xfrm>
          <a:prstGeom prst="line">
            <a:avLst/>
          </a:prstGeom>
          <a:noFill/>
          <a:ln w="6350">
            <a:solidFill>
              <a:srgbClr val="0D2D6B"/>
            </a:solidFill>
            <a:prstDash val="sysDot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7BB1A54-F68F-D818-BCE2-F172D3F3A00B}"/>
              </a:ext>
            </a:extLst>
          </p:cNvPr>
          <p:cNvSpPr/>
          <p:nvPr/>
        </p:nvSpPr>
        <p:spPr>
          <a:xfrm>
            <a:off x="694944" y="4559808"/>
            <a:ext cx="3096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7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EB728CF-611C-A197-7F24-93E3834878C3}"/>
              </a:ext>
            </a:extLst>
          </p:cNvPr>
          <p:cNvSpPr/>
          <p:nvPr/>
        </p:nvSpPr>
        <p:spPr>
          <a:xfrm>
            <a:off x="694944" y="4742688"/>
            <a:ext cx="309676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task list with criteria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B09DE2E-BE4B-1781-E72B-4ABC7E129D14}"/>
              </a:ext>
            </a:extLst>
          </p:cNvPr>
          <p:cNvSpPr/>
          <p:nvPr/>
        </p:nvSpPr>
        <p:spPr>
          <a:xfrm>
            <a:off x="4279392" y="1828800"/>
            <a:ext cx="3389376" cy="3364992"/>
          </a:xfrm>
          <a:prstGeom prst="rect">
            <a:avLst/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CB336B6-0E11-517F-8A01-A7B946CBBD0E}"/>
              </a:ext>
            </a:extLst>
          </p:cNvPr>
          <p:cNvSpPr/>
          <p:nvPr/>
        </p:nvSpPr>
        <p:spPr>
          <a:xfrm>
            <a:off x="4279392" y="1828800"/>
            <a:ext cx="3389376" cy="63398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DEDE1E3-095B-63E6-DB51-47D45C23793B}"/>
              </a:ext>
            </a:extLst>
          </p:cNvPr>
          <p:cNvSpPr/>
          <p:nvPr/>
        </p:nvSpPr>
        <p:spPr>
          <a:xfrm>
            <a:off x="4413504" y="1938528"/>
            <a:ext cx="390144" cy="3901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6E4C82C-8E2B-FCDB-E60F-984BE0367B88}"/>
              </a:ext>
            </a:extLst>
          </p:cNvPr>
          <p:cNvSpPr/>
          <p:nvPr/>
        </p:nvSpPr>
        <p:spPr>
          <a:xfrm>
            <a:off x="4413504" y="193852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F6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2CA9D0E-C1A6-AC2F-5E95-6798142D65CE}"/>
              </a:ext>
            </a:extLst>
          </p:cNvPr>
          <p:cNvSpPr/>
          <p:nvPr/>
        </p:nvSpPr>
        <p:spPr>
          <a:xfrm>
            <a:off x="4888992" y="1865376"/>
            <a:ext cx="26578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92D115-CDE5-D750-9085-970C8ADA5CC4}"/>
              </a:ext>
            </a:extLst>
          </p:cNvPr>
          <p:cNvSpPr/>
          <p:nvPr/>
        </p:nvSpPr>
        <p:spPr>
          <a:xfrm>
            <a:off x="4888992" y="21701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 the tasks</a:t>
            </a:r>
            <a:endParaRPr lang="en-US" sz="104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379E01D-F654-AD99-AA78-99DDBDEBDDAA}"/>
              </a:ext>
            </a:extLst>
          </p:cNvPr>
          <p:cNvSpPr/>
          <p:nvPr/>
        </p:nvSpPr>
        <p:spPr>
          <a:xfrm>
            <a:off x="4425696" y="2535936"/>
            <a:ext cx="309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0F6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</a:t>
            </a:r>
            <a:endParaRPr lang="en-US" sz="827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E2AF56D-1FD9-FC24-0532-ED25C1CA186A}"/>
              </a:ext>
            </a:extLst>
          </p:cNvPr>
          <p:cNvSpPr/>
          <p:nvPr/>
        </p:nvSpPr>
        <p:spPr>
          <a:xfrm>
            <a:off x="4437888" y="2901696"/>
            <a:ext cx="85344" cy="853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35FD70A-E9E8-B017-D0B7-F7945D3306AF}"/>
              </a:ext>
            </a:extLst>
          </p:cNvPr>
          <p:cNvSpPr/>
          <p:nvPr/>
        </p:nvSpPr>
        <p:spPr>
          <a:xfrm>
            <a:off x="4584192" y="281635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measurement API per location</a:t>
            </a:r>
            <a:endParaRPr lang="en-US" sz="104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E72888A-270E-21CB-B2AC-18D91D47194B}"/>
              </a:ext>
            </a:extLst>
          </p:cNvPr>
          <p:cNvSpPr/>
          <p:nvPr/>
        </p:nvSpPr>
        <p:spPr>
          <a:xfrm>
            <a:off x="4437888" y="3291840"/>
            <a:ext cx="85344" cy="853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B878F4D-66F7-B22E-0E1E-5F2EAC3BDCA8}"/>
              </a:ext>
            </a:extLst>
          </p:cNvPr>
          <p:cNvSpPr/>
          <p:nvPr/>
        </p:nvSpPr>
        <p:spPr>
          <a:xfrm>
            <a:off x="4584192" y="3206496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background subtraction formula</a:t>
            </a:r>
            <a:endParaRPr lang="en-US" sz="104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411B422-DE08-79D3-B83A-538CC51CB813}"/>
              </a:ext>
            </a:extLst>
          </p:cNvPr>
          <p:cNvSpPr/>
          <p:nvPr/>
        </p:nvSpPr>
        <p:spPr>
          <a:xfrm>
            <a:off x="4437888" y="3681984"/>
            <a:ext cx="85344" cy="853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6DA2C19-F5AE-52E7-B676-082416F839AF}"/>
              </a:ext>
            </a:extLst>
          </p:cNvPr>
          <p:cNvSpPr/>
          <p:nvPr/>
        </p:nvSpPr>
        <p:spPr>
          <a:xfrm>
            <a:off x="4584192" y="3596640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city noise ontology via MCP</a:t>
            </a:r>
            <a:endParaRPr lang="en-US" sz="104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C4B7176-36EE-2190-AE49-91B454B32C89}"/>
              </a:ext>
            </a:extLst>
          </p:cNvPr>
          <p:cNvSpPr/>
          <p:nvPr/>
        </p:nvSpPr>
        <p:spPr>
          <a:xfrm>
            <a:off x="4437888" y="4072128"/>
            <a:ext cx="85344" cy="853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7800802-3EDC-102E-9F11-D6E78A83C60B}"/>
              </a:ext>
            </a:extLst>
          </p:cNvPr>
          <p:cNvSpPr/>
          <p:nvPr/>
        </p:nvSpPr>
        <p:spPr>
          <a:xfrm>
            <a:off x="4584192" y="3986784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sections of the ISO report</a:t>
            </a:r>
            <a:endParaRPr lang="en-US" sz="104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6A33C9D-9479-1C14-CA48-5A23533FE110}"/>
              </a:ext>
            </a:extLst>
          </p:cNvPr>
          <p:cNvSpPr/>
          <p:nvPr/>
        </p:nvSpPr>
        <p:spPr>
          <a:xfrm>
            <a:off x="4425696" y="4511040"/>
            <a:ext cx="3096768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ysDot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DAC906F-0DEC-386E-6B8A-50881B2404BB}"/>
              </a:ext>
            </a:extLst>
          </p:cNvPr>
          <p:cNvSpPr/>
          <p:nvPr/>
        </p:nvSpPr>
        <p:spPr>
          <a:xfrm>
            <a:off x="4425696" y="4559808"/>
            <a:ext cx="3096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0F6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7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43EFB02-ED22-546B-76E7-9F3AA57DCFB3}"/>
              </a:ext>
            </a:extLst>
          </p:cNvPr>
          <p:cNvSpPr/>
          <p:nvPr/>
        </p:nvSpPr>
        <p:spPr>
          <a:xfrm>
            <a:off x="4425696" y="4742688"/>
            <a:ext cx="309676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 dirty="0">
                <a:solidFill>
                  <a:srgbClr val="0F6E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+ draft report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AE5529C-8510-42C9-0862-C49C53C1D51E}"/>
              </a:ext>
            </a:extLst>
          </p:cNvPr>
          <p:cNvSpPr/>
          <p:nvPr/>
        </p:nvSpPr>
        <p:spPr>
          <a:xfrm>
            <a:off x="8010144" y="1828800"/>
            <a:ext cx="3389376" cy="3364992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9011475-4A7A-D7B0-4E2D-705A8E1C7FB3}"/>
              </a:ext>
            </a:extLst>
          </p:cNvPr>
          <p:cNvSpPr/>
          <p:nvPr/>
        </p:nvSpPr>
        <p:spPr>
          <a:xfrm>
            <a:off x="8010144" y="1828800"/>
            <a:ext cx="3389376" cy="63398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8F50F72-E132-B54B-798F-8903E12EE054}"/>
              </a:ext>
            </a:extLst>
          </p:cNvPr>
          <p:cNvSpPr/>
          <p:nvPr/>
        </p:nvSpPr>
        <p:spPr>
          <a:xfrm>
            <a:off x="8144256" y="1938528"/>
            <a:ext cx="390144" cy="3901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1A22977-EC44-BF46-3B86-F3E0B1AA5393}"/>
              </a:ext>
            </a:extLst>
          </p:cNvPr>
          <p:cNvSpPr/>
          <p:nvPr/>
        </p:nvSpPr>
        <p:spPr>
          <a:xfrm>
            <a:off x="8144256" y="193852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A3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③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ACAC785-6B7E-1BF3-C8C5-91BE061286A0}"/>
              </a:ext>
            </a:extLst>
          </p:cNvPr>
          <p:cNvSpPr/>
          <p:nvPr/>
        </p:nvSpPr>
        <p:spPr>
          <a:xfrm>
            <a:off x="8619744" y="1865376"/>
            <a:ext cx="26578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1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CD36EBFC-A803-BE48-55A3-652DC3917830}"/>
              </a:ext>
            </a:extLst>
          </p:cNvPr>
          <p:cNvSpPr/>
          <p:nvPr/>
        </p:nvSpPr>
        <p:spPr>
          <a:xfrm>
            <a:off x="8619744" y="2170176"/>
            <a:ext cx="2657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every result</a:t>
            </a:r>
            <a:endParaRPr lang="en-US" sz="104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BADEECC-FC85-2431-DB48-72A42D1AF937}"/>
              </a:ext>
            </a:extLst>
          </p:cNvPr>
          <p:cNvSpPr/>
          <p:nvPr/>
        </p:nvSpPr>
        <p:spPr>
          <a:xfrm>
            <a:off x="8156448" y="2535936"/>
            <a:ext cx="309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A3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</a:t>
            </a:r>
            <a:endParaRPr lang="en-US" sz="827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A10A88E-4447-EDC2-2C5E-FD1EF539AFD1}"/>
              </a:ext>
            </a:extLst>
          </p:cNvPr>
          <p:cNvSpPr/>
          <p:nvPr/>
        </p:nvSpPr>
        <p:spPr>
          <a:xfrm>
            <a:off x="8168640" y="2901696"/>
            <a:ext cx="85344" cy="8534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E31468C-1D78-9F79-3C32-8C76480FA9C9}"/>
              </a:ext>
            </a:extLst>
          </p:cNvPr>
          <p:cNvSpPr/>
          <p:nvPr/>
        </p:nvSpPr>
        <p:spPr>
          <a:xfrm>
            <a:off x="8314944" y="2816352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margin ≥ 3 dB per measurement</a:t>
            </a:r>
            <a:endParaRPr lang="en-US" sz="104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EA57811-3948-93C5-92B9-AD2C50D72FE1}"/>
              </a:ext>
            </a:extLst>
          </p:cNvPr>
          <p:cNvSpPr/>
          <p:nvPr/>
        </p:nvSpPr>
        <p:spPr>
          <a:xfrm>
            <a:off x="8168640" y="3291840"/>
            <a:ext cx="85344" cy="8534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634C20B-D442-3B65-6FD8-22A9178041AD}"/>
              </a:ext>
            </a:extLst>
          </p:cNvPr>
          <p:cNvSpPr/>
          <p:nvPr/>
        </p:nvSpPr>
        <p:spPr>
          <a:xfrm>
            <a:off x="8314944" y="3206496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ISO 9614 format compliance</a:t>
            </a:r>
            <a:endParaRPr lang="en-US" sz="104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36E496D-8075-C2E7-7D22-976A04711D2B}"/>
              </a:ext>
            </a:extLst>
          </p:cNvPr>
          <p:cNvSpPr/>
          <p:nvPr/>
        </p:nvSpPr>
        <p:spPr>
          <a:xfrm>
            <a:off x="8168640" y="3681984"/>
            <a:ext cx="85344" cy="8534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DA9FE46-0760-2EF5-F709-B32DB7B72F50}"/>
              </a:ext>
            </a:extLst>
          </p:cNvPr>
          <p:cNvSpPr/>
          <p:nvPr/>
        </p:nvSpPr>
        <p:spPr>
          <a:xfrm>
            <a:off x="8314944" y="3596640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uncertain results for re-run</a:t>
            </a:r>
            <a:endParaRPr lang="en-US" sz="104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87A414E-AD78-2EA8-D2B7-B773ADBE2F1F}"/>
              </a:ext>
            </a:extLst>
          </p:cNvPr>
          <p:cNvSpPr/>
          <p:nvPr/>
        </p:nvSpPr>
        <p:spPr>
          <a:xfrm>
            <a:off x="8168640" y="4072128"/>
            <a:ext cx="85344" cy="8534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42F333E-1ED4-C898-6056-1DB1EDBB85EA}"/>
              </a:ext>
            </a:extLst>
          </p:cNvPr>
          <p:cNvSpPr/>
          <p:nvPr/>
        </p:nvSpPr>
        <p:spPr>
          <a:xfrm>
            <a:off x="8314944" y="3986784"/>
            <a:ext cx="295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or reject each section</a:t>
            </a:r>
            <a:endParaRPr lang="en-US" sz="104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0D7FABB-EA38-CEB4-F2ED-6BE349BBBBA9}"/>
              </a:ext>
            </a:extLst>
          </p:cNvPr>
          <p:cNvSpPr/>
          <p:nvPr/>
        </p:nvSpPr>
        <p:spPr>
          <a:xfrm>
            <a:off x="8156448" y="4511040"/>
            <a:ext cx="3096768" cy="0"/>
          </a:xfrm>
          <a:prstGeom prst="line">
            <a:avLst/>
          </a:prstGeom>
          <a:noFill/>
          <a:ln w="6350">
            <a:solidFill>
              <a:srgbClr val="A32D2D"/>
            </a:solidFill>
            <a:prstDash val="sysDot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C55C0E2-74E0-8E80-4946-8B3F28DC5D26}"/>
              </a:ext>
            </a:extLst>
          </p:cNvPr>
          <p:cNvSpPr/>
          <p:nvPr/>
        </p:nvSpPr>
        <p:spPr>
          <a:xfrm>
            <a:off x="8156448" y="4559808"/>
            <a:ext cx="3096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7" b="1" dirty="0">
                <a:solidFill>
                  <a:srgbClr val="A3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7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B821EBD-38F6-24A1-F167-B5384D568D3F}"/>
              </a:ext>
            </a:extLst>
          </p:cNvPr>
          <p:cNvSpPr/>
          <p:nvPr/>
        </p:nvSpPr>
        <p:spPr>
          <a:xfrm>
            <a:off x="8156448" y="4742688"/>
            <a:ext cx="309676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 dirty="0">
                <a:solidFill>
                  <a:srgbClr val="A3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report or rejection + reason</a:t>
            </a:r>
            <a:endParaRPr lang="en-US" sz="10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440DBB4-9226-8793-1699-B5584C174210}"/>
              </a:ext>
            </a:extLst>
          </p:cNvPr>
          <p:cNvSpPr/>
          <p:nvPr/>
        </p:nvSpPr>
        <p:spPr>
          <a:xfrm>
            <a:off x="3962400" y="3511296"/>
            <a:ext cx="292608" cy="0"/>
          </a:xfrm>
          <a:prstGeom prst="line">
            <a:avLst/>
          </a:prstGeom>
          <a:noFill/>
          <a:ln w="20320">
            <a:solidFill>
              <a:srgbClr val="0D2D6B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810199A1-DDD1-7533-2877-E57459BD4568}"/>
              </a:ext>
            </a:extLst>
          </p:cNvPr>
          <p:cNvSpPr/>
          <p:nvPr/>
        </p:nvSpPr>
        <p:spPr>
          <a:xfrm>
            <a:off x="3938016" y="3267456"/>
            <a:ext cx="34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7" i="1" dirty="0">
                <a:solidFill>
                  <a:srgbClr val="4A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→</a:t>
            </a:r>
            <a:endParaRPr lang="en-US" sz="827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B3741992-235E-8E3F-190B-5D8D00AFB278}"/>
              </a:ext>
            </a:extLst>
          </p:cNvPr>
          <p:cNvSpPr/>
          <p:nvPr/>
        </p:nvSpPr>
        <p:spPr>
          <a:xfrm>
            <a:off x="7693152" y="3511296"/>
            <a:ext cx="292608" cy="0"/>
          </a:xfrm>
          <a:prstGeom prst="line">
            <a:avLst/>
          </a:prstGeom>
          <a:noFill/>
          <a:ln w="20320">
            <a:solidFill>
              <a:srgbClr val="0F6E56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95D29B5-1E1F-CB0B-E22F-4D0747F8C795}"/>
              </a:ext>
            </a:extLst>
          </p:cNvPr>
          <p:cNvSpPr/>
          <p:nvPr/>
        </p:nvSpPr>
        <p:spPr>
          <a:xfrm>
            <a:off x="7607808" y="3267456"/>
            <a:ext cx="46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7" i="1" dirty="0">
                <a:solidFill>
                  <a:srgbClr val="4A6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→</a:t>
            </a:r>
            <a:endParaRPr lang="en-US" sz="827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88585F8-2BCD-05F6-F6EF-A61EA78FF075}"/>
              </a:ext>
            </a:extLst>
          </p:cNvPr>
          <p:cNvSpPr/>
          <p:nvPr/>
        </p:nvSpPr>
        <p:spPr>
          <a:xfrm>
            <a:off x="9704832" y="5193792"/>
            <a:ext cx="0" cy="268224"/>
          </a:xfrm>
          <a:prstGeom prst="line">
            <a:avLst/>
          </a:prstGeom>
          <a:noFill/>
          <a:ln w="12700">
            <a:solidFill>
              <a:srgbClr val="A32D2D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FA2C6126-E32A-F6E3-B8FA-92DCEB4CE3FB}"/>
              </a:ext>
            </a:extLst>
          </p:cNvPr>
          <p:cNvSpPr/>
          <p:nvPr/>
        </p:nvSpPr>
        <p:spPr>
          <a:xfrm>
            <a:off x="2243328" y="5559552"/>
            <a:ext cx="7461504" cy="0"/>
          </a:xfrm>
          <a:prstGeom prst="line">
            <a:avLst/>
          </a:prstGeom>
          <a:noFill/>
          <a:ln w="12700">
            <a:solidFill>
              <a:srgbClr val="A32D2D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73BBF4C3-7D10-3699-7E96-9A32838D44FB}"/>
              </a:ext>
            </a:extLst>
          </p:cNvPr>
          <p:cNvSpPr/>
          <p:nvPr/>
        </p:nvSpPr>
        <p:spPr>
          <a:xfrm>
            <a:off x="2243328" y="5193792"/>
            <a:ext cx="0" cy="268224"/>
          </a:xfrm>
          <a:prstGeom prst="line">
            <a:avLst/>
          </a:prstGeom>
          <a:noFill/>
          <a:ln w="12700">
            <a:solidFill>
              <a:srgbClr val="A32D2D"/>
            </a:solidFill>
            <a:prstDash val="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99FAE500-0A3D-3358-41DC-C35385B0A361}"/>
              </a:ext>
            </a:extLst>
          </p:cNvPr>
          <p:cNvSpPr/>
          <p:nvPr/>
        </p:nvSpPr>
        <p:spPr>
          <a:xfrm>
            <a:off x="2365248" y="5571744"/>
            <a:ext cx="26822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i="1" dirty="0">
                <a:solidFill>
                  <a:srgbClr val="A3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 reject / replan</a:t>
            </a:r>
            <a:endParaRPr lang="en-US" sz="867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6399906-CC51-E713-9A39-5FA2E0866027}"/>
              </a:ext>
            </a:extLst>
          </p:cNvPr>
          <p:cNvSpPr/>
          <p:nvPr/>
        </p:nvSpPr>
        <p:spPr>
          <a:xfrm>
            <a:off x="548640" y="5827776"/>
            <a:ext cx="1109472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0DA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5BAFCDF-1B80-2AAE-EEF6-C373DAED05C9}"/>
              </a:ext>
            </a:extLst>
          </p:cNvPr>
          <p:cNvSpPr/>
          <p:nvPr/>
        </p:nvSpPr>
        <p:spPr>
          <a:xfrm>
            <a:off x="707136" y="5852160"/>
            <a:ext cx="1077772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40" i="1" dirty="0">
                <a:solidFill>
                  <a:srgbClr val="0D2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Generator–Verifier (P1) nested in Orchestrator–Subagent (P2)  ·  Verifier = vier-ogen principe — no result passes without independent review</a:t>
            </a:r>
            <a:endParaRPr lang="en-US" sz="104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99C4594-B984-C4D4-49C6-CDFCA99A2B01}"/>
              </a:ext>
            </a:extLst>
          </p:cNvPr>
          <p:cNvSpPr/>
          <p:nvPr/>
        </p:nvSpPr>
        <p:spPr>
          <a:xfrm>
            <a:off x="548640" y="6461760"/>
            <a:ext cx="11094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7" i="1" dirty="0">
                <a:solidFill>
                  <a:srgbClr val="9AA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Roles: Planner (orchestrator) · Worker (subagent) · Verifier (judge)  ·  Ref: Feng, McDonald &amp; Zhang (2025). Levels of Autonomy for AI Agents. arXiv:2506.12469</a:t>
            </a:r>
            <a:endParaRPr lang="en-US" sz="907" dirty="0"/>
          </a:p>
        </p:txBody>
      </p:sp>
    </p:spTree>
    <p:extLst>
      <p:ext uri="{BB962C8B-B14F-4D97-AF65-F5344CB8AC3E}">
        <p14:creationId xmlns:p14="http://schemas.microsoft.com/office/powerpoint/2010/main" val="356423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053E9B-74E7-8A73-5579-EFFD25FAFC82}"/>
              </a:ext>
            </a:extLst>
          </p:cNvPr>
          <p:cNvSpPr txBox="1"/>
          <p:nvPr/>
        </p:nvSpPr>
        <p:spPr>
          <a:xfrm>
            <a:off x="934179" y="725903"/>
            <a:ext cx="88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 dirty="0">
                <a:solidFill>
                  <a:srgbClr val="002060"/>
                </a:solidFill>
              </a:rPr>
              <a:t>Summary</a:t>
            </a:r>
            <a:endParaRPr lang="en-NL" sz="32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211BE-9782-A1AC-57C8-D7BE383190A0}"/>
              </a:ext>
            </a:extLst>
          </p:cNvPr>
          <p:cNvSpPr txBox="1"/>
          <p:nvPr/>
        </p:nvSpPr>
        <p:spPr>
          <a:xfrm>
            <a:off x="1084520" y="1850065"/>
            <a:ext cx="84528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We have discussed the five most important elements of a ‘coding harness’”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AI model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Skills.md</a:t>
            </a:r>
            <a:r>
              <a:rPr lang="en-US" dirty="0">
                <a:solidFill>
                  <a:srgbClr val="002060"/>
                </a:solidFill>
              </a:rPr>
              <a:t> &amp; MCP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Prompt engineering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Memory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Sub-agents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This presentation was just the first introduction to this subject. 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Better coding harnesses will lead to better code.  In the second half of 2026 we will see lot’s of improvements in coding harnesses. Watch this space.  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3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765</Words>
  <Application>Microsoft Macintosh PowerPoint</Application>
  <PresentationFormat>Widescreen</PresentationFormat>
  <Paragraphs>149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Michiel Bontenbal</dc:creator>
  <cp:lastModifiedBy>Michiel Bontenbal</cp:lastModifiedBy>
  <cp:revision>1</cp:revision>
  <dcterms:created xsi:type="dcterms:W3CDTF">2026-07-10T12:56:41Z</dcterms:created>
  <dcterms:modified xsi:type="dcterms:W3CDTF">2026-07-10T13:00:45Z</dcterms:modified>
</cp:coreProperties>
</file>